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81EFD-C594-46DF-9255-DE77BBE0D06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A566-A0C9-4C5E-9913-C6ED2586B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04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81EFD-C594-46DF-9255-DE77BBE0D06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A566-A0C9-4C5E-9913-C6ED2586B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561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81EFD-C594-46DF-9255-DE77BBE0D06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A566-A0C9-4C5E-9913-C6ED2586B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142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81EFD-C594-46DF-9255-DE77BBE0D06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A566-A0C9-4C5E-9913-C6ED2586B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81EFD-C594-46DF-9255-DE77BBE0D06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A566-A0C9-4C5E-9913-C6ED2586B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349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81EFD-C594-46DF-9255-DE77BBE0D06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A566-A0C9-4C5E-9913-C6ED2586B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146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81EFD-C594-46DF-9255-DE77BBE0D06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A566-A0C9-4C5E-9913-C6ED2586B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545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81EFD-C594-46DF-9255-DE77BBE0D06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A566-A0C9-4C5E-9913-C6ED2586B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173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81EFD-C594-46DF-9255-DE77BBE0D06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A566-A0C9-4C5E-9913-C6ED2586B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47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81EFD-C594-46DF-9255-DE77BBE0D06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A566-A0C9-4C5E-9913-C6ED2586B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023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81EFD-C594-46DF-9255-DE77BBE0D06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5A566-A0C9-4C5E-9913-C6ED2586B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00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81EFD-C594-46DF-9255-DE77BBE0D069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5A566-A0C9-4C5E-9913-C6ED2586B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08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987961" y="372795"/>
            <a:ext cx="9872297" cy="5929531"/>
            <a:chOff x="987961" y="372795"/>
            <a:chExt cx="9872297" cy="5929531"/>
          </a:xfrm>
        </p:grpSpPr>
        <p:sp>
          <p:nvSpPr>
            <p:cNvPr id="4" name="Rounded Rectangle 3"/>
            <p:cNvSpPr/>
            <p:nvPr/>
          </p:nvSpPr>
          <p:spPr>
            <a:xfrm>
              <a:off x="1002029" y="372795"/>
              <a:ext cx="1336431" cy="97067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/>
                <a:t>Camera / RTSP </a:t>
              </a:r>
              <a:r>
                <a:rPr lang="en-IN" sz="1200" dirty="0" smtClean="0"/>
                <a:t>Stream</a:t>
              </a:r>
              <a:endParaRPr lang="en-IN" sz="1200" dirty="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87961" y="1839349"/>
              <a:ext cx="1361487" cy="97067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/>
                <a:t>Video Capture </a:t>
              </a:r>
              <a:r>
                <a:rPr lang="en-IN" sz="1200" dirty="0" smtClean="0"/>
                <a:t>(</a:t>
              </a:r>
              <a:r>
                <a:rPr lang="en-IN" sz="1200" dirty="0" err="1" smtClean="0"/>
                <a:t>OpenCV</a:t>
              </a:r>
              <a:r>
                <a:rPr lang="en-IN" sz="1200" dirty="0" smtClean="0"/>
                <a:t>, </a:t>
              </a:r>
              <a:r>
                <a:rPr lang="en-IN" sz="1200" dirty="0" err="1" smtClean="0"/>
                <a:t>GStreamer</a:t>
              </a:r>
              <a:r>
                <a:rPr lang="en-IN" sz="1200" dirty="0" smtClean="0"/>
                <a:t>, or </a:t>
              </a:r>
              <a:r>
                <a:rPr lang="en-IN" sz="1200" dirty="0" err="1" smtClean="0"/>
                <a:t>FFmpeg</a:t>
              </a:r>
              <a:r>
                <a:rPr lang="en-IN" sz="1200" dirty="0" smtClean="0"/>
                <a:t>)</a:t>
              </a:r>
              <a:endParaRPr lang="en-IN" sz="1200" dirty="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99277" y="617808"/>
              <a:ext cx="1631851" cy="97067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/>
                <a:t>Frame </a:t>
              </a:r>
              <a:r>
                <a:rPr lang="en-IN" sz="1200" b="1" dirty="0" err="1" smtClean="0"/>
                <a:t>Preprocessing</a:t>
              </a:r>
              <a:endParaRPr lang="en-IN" sz="1200" b="1" dirty="0" smtClean="0"/>
            </a:p>
            <a:p>
              <a:pPr algn="ctr"/>
              <a:r>
                <a:rPr lang="en-IN" sz="1200" dirty="0" smtClean="0"/>
                <a:t>(resize, normalize, etc.)</a:t>
              </a:r>
              <a:endParaRPr lang="en-IN" sz="1200" dirty="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846232" y="1371600"/>
              <a:ext cx="1688124" cy="93550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/>
                <a:t>Anomaly Detection Model</a:t>
              </a:r>
              <a:r>
                <a:rPr lang="en-IN" sz="1200" dirty="0" smtClean="0"/>
                <a:t>   (CNN/</a:t>
              </a:r>
              <a:r>
                <a:rPr lang="en-IN" sz="1200" dirty="0" err="1" smtClean="0"/>
                <a:t>Autoencoder</a:t>
              </a:r>
              <a:r>
                <a:rPr lang="en-IN" sz="1200" dirty="0" smtClean="0"/>
                <a:t>/LSTM/YOLO)</a:t>
              </a:r>
              <a:endParaRPr lang="en-IN" sz="1200" dirty="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536786" y="3910819"/>
              <a:ext cx="1552138" cy="970669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/>
                <a:t>Classification of Anomaly</a:t>
              </a:r>
              <a:endParaRPr lang="en-IN" sz="1200" dirty="0" smtClean="0"/>
            </a:p>
            <a:p>
              <a:pPr algn="ctr"/>
              <a:r>
                <a:rPr lang="en-IN" sz="1200" dirty="0" smtClean="0"/>
                <a:t>(CNN/LSTM classifier)</a:t>
              </a:r>
              <a:endParaRPr lang="en-IN" sz="1200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536786" y="5371514"/>
              <a:ext cx="1552138" cy="930812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/>
                <a:t>Visualization / Alerts</a:t>
              </a:r>
              <a:endParaRPr lang="en-IN" sz="1200" b="1" dirty="0"/>
            </a:p>
          </p:txBody>
        </p:sp>
        <p:sp>
          <p:nvSpPr>
            <p:cNvPr id="10" name="Flowchart: Magnetic Disk 9"/>
            <p:cNvSpPr/>
            <p:nvPr/>
          </p:nvSpPr>
          <p:spPr>
            <a:xfrm>
              <a:off x="4250202" y="3910819"/>
              <a:ext cx="1114277" cy="984735"/>
            </a:xfrm>
            <a:prstGeom prst="flowChartMagneticDisk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Database</a:t>
              </a:r>
              <a:endParaRPr lang="en-IN" sz="1200" dirty="0"/>
            </a:p>
          </p:txBody>
        </p:sp>
        <p:sp>
          <p:nvSpPr>
            <p:cNvPr id="13" name="Flowchart: Card 12"/>
            <p:cNvSpPr/>
            <p:nvPr/>
          </p:nvSpPr>
          <p:spPr>
            <a:xfrm>
              <a:off x="8846232" y="3873304"/>
              <a:ext cx="2014026" cy="1008184"/>
            </a:xfrm>
            <a:prstGeom prst="flowChartPunchedCard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/>
                <a:t>Anomaly types</a:t>
              </a:r>
            </a:p>
            <a:p>
              <a:pPr algn="ctr"/>
              <a:r>
                <a:rPr lang="en-IN" sz="1200" dirty="0" smtClean="0"/>
                <a:t>Fire, Falling Person, Smoke, Intruder</a:t>
              </a:r>
              <a:endParaRPr lang="en-IN" sz="1200" dirty="0"/>
            </a:p>
          </p:txBody>
        </p:sp>
        <p:sp>
          <p:nvSpPr>
            <p:cNvPr id="14" name="Flowchart: Card 13"/>
            <p:cNvSpPr/>
            <p:nvPr/>
          </p:nvSpPr>
          <p:spPr>
            <a:xfrm>
              <a:off x="8846232" y="5277731"/>
              <a:ext cx="2014026" cy="1008184"/>
            </a:xfrm>
            <a:prstGeom prst="flowChartPunchedCard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IN" sz="1200" b="1" dirty="0" smtClean="0"/>
                <a:t>Alert Signals</a:t>
              </a:r>
            </a:p>
            <a:p>
              <a:r>
                <a:rPr lang="en-US" sz="1200" b="1" dirty="0" smtClean="0"/>
                <a:t>0: Normal, 1: Fire, </a:t>
              </a:r>
            </a:p>
            <a:p>
              <a:r>
                <a:rPr lang="en-US" sz="1200" b="1" dirty="0" smtClean="0"/>
                <a:t>2: Smoke, 3: Person Fall, </a:t>
              </a:r>
            </a:p>
            <a:p>
              <a:r>
                <a:rPr lang="en-US" sz="1200" b="1" dirty="0" smtClean="0"/>
                <a:t>4: Unknown Object</a:t>
              </a:r>
              <a:endParaRPr lang="en-IN" sz="1200" b="1" dirty="0" smtClean="0"/>
            </a:p>
          </p:txBody>
        </p:sp>
        <p:cxnSp>
          <p:nvCxnSpPr>
            <p:cNvPr id="24" name="Elbow Connector 23"/>
            <p:cNvCxnSpPr>
              <a:stCxn id="7" idx="2"/>
              <a:endCxn id="8" idx="0"/>
            </p:cNvCxnSpPr>
            <p:nvPr/>
          </p:nvCxnSpPr>
          <p:spPr>
            <a:xfrm rot="5400000">
              <a:off x="7699716" y="1920241"/>
              <a:ext cx="1603718" cy="2377439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8" idx="1"/>
              <a:endCxn id="10" idx="4"/>
            </p:cNvCxnSpPr>
            <p:nvPr/>
          </p:nvCxnSpPr>
          <p:spPr>
            <a:xfrm flipH="1">
              <a:off x="5364479" y="4396154"/>
              <a:ext cx="1172307" cy="70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8" idx="2"/>
              <a:endCxn id="9" idx="0"/>
            </p:cNvCxnSpPr>
            <p:nvPr/>
          </p:nvCxnSpPr>
          <p:spPr>
            <a:xfrm>
              <a:off x="7312855" y="4881488"/>
              <a:ext cx="0" cy="4900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8" idx="3"/>
              <a:endCxn id="13" idx="1"/>
            </p:cNvCxnSpPr>
            <p:nvPr/>
          </p:nvCxnSpPr>
          <p:spPr>
            <a:xfrm flipV="1">
              <a:off x="8088924" y="4377396"/>
              <a:ext cx="757308" cy="18758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8088924" y="5836920"/>
              <a:ext cx="757308" cy="18758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ounded Rectangle 38"/>
            <p:cNvSpPr/>
            <p:nvPr/>
          </p:nvSpPr>
          <p:spPr>
            <a:xfrm>
              <a:off x="6496929" y="1940169"/>
              <a:ext cx="1631851" cy="97067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200" b="1" dirty="0" smtClean="0"/>
                <a:t>Enhance frame</a:t>
              </a:r>
            </a:p>
            <a:p>
              <a:pPr algn="ctr"/>
              <a:r>
                <a:rPr lang="en-IN" sz="1200" dirty="0" smtClean="0"/>
                <a:t>CLAHE + </a:t>
              </a:r>
              <a:r>
                <a:rPr lang="en-IN" sz="1200" dirty="0" err="1" smtClean="0"/>
                <a:t>denoise</a:t>
              </a:r>
              <a:r>
                <a:rPr lang="en-IN" sz="1200" dirty="0" smtClean="0"/>
                <a:t> + sharpen</a:t>
              </a:r>
              <a:endParaRPr lang="en-IN" sz="1200" dirty="0"/>
            </a:p>
          </p:txBody>
        </p:sp>
        <p:cxnSp>
          <p:nvCxnSpPr>
            <p:cNvPr id="45" name="Elbow Connector 44"/>
            <p:cNvCxnSpPr>
              <a:stCxn id="6" idx="3"/>
              <a:endCxn id="7" idx="1"/>
            </p:cNvCxnSpPr>
            <p:nvPr/>
          </p:nvCxnSpPr>
          <p:spPr>
            <a:xfrm>
              <a:off x="8131128" y="1103143"/>
              <a:ext cx="715104" cy="736208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Flowchart: Decision 49"/>
            <p:cNvSpPr/>
            <p:nvPr/>
          </p:nvSpPr>
          <p:spPr>
            <a:xfrm>
              <a:off x="3796150" y="1319427"/>
              <a:ext cx="1561369" cy="962467"/>
            </a:xfrm>
            <a:prstGeom prst="flowChartDecision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Quality check</a:t>
              </a:r>
              <a:endParaRPr lang="en-IN" sz="1200" dirty="0"/>
            </a:p>
          </p:txBody>
        </p:sp>
        <p:cxnSp>
          <p:nvCxnSpPr>
            <p:cNvPr id="54" name="Straight Arrow Connector 53"/>
            <p:cNvCxnSpPr>
              <a:stCxn id="4" idx="2"/>
              <a:endCxn id="5" idx="0"/>
            </p:cNvCxnSpPr>
            <p:nvPr/>
          </p:nvCxnSpPr>
          <p:spPr>
            <a:xfrm flipH="1">
              <a:off x="1668705" y="1343465"/>
              <a:ext cx="1540" cy="4958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Elbow Connector 64"/>
            <p:cNvCxnSpPr>
              <a:stCxn id="5" idx="3"/>
              <a:endCxn id="50" idx="1"/>
            </p:cNvCxnSpPr>
            <p:nvPr/>
          </p:nvCxnSpPr>
          <p:spPr>
            <a:xfrm flipV="1">
              <a:off x="2349448" y="1800661"/>
              <a:ext cx="1446702" cy="524023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Elbow Connector 66"/>
            <p:cNvCxnSpPr>
              <a:stCxn id="50" idx="2"/>
              <a:endCxn id="39" idx="1"/>
            </p:cNvCxnSpPr>
            <p:nvPr/>
          </p:nvCxnSpPr>
          <p:spPr>
            <a:xfrm rot="16200000" flipH="1">
              <a:off x="5465077" y="1393652"/>
              <a:ext cx="143610" cy="192009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Elbow Connector 68"/>
            <p:cNvCxnSpPr>
              <a:stCxn id="50" idx="0"/>
              <a:endCxn id="6" idx="1"/>
            </p:cNvCxnSpPr>
            <p:nvPr/>
          </p:nvCxnSpPr>
          <p:spPr>
            <a:xfrm rot="5400000" flipH="1" flipV="1">
              <a:off x="5429914" y="250064"/>
              <a:ext cx="216284" cy="192244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5273829" y="777322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Good</a:t>
              </a:r>
              <a:endParaRPr lang="en-IN" sz="1200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256143" y="2168601"/>
              <a:ext cx="4219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Bad</a:t>
              </a:r>
              <a:endParaRPr lang="en-IN" sz="1200" dirty="0"/>
            </a:p>
          </p:txBody>
        </p:sp>
      </p:grpSp>
      <p:cxnSp>
        <p:nvCxnSpPr>
          <p:cNvPr id="12" name="Straight Arrow Connector 11"/>
          <p:cNvCxnSpPr>
            <a:stCxn id="39" idx="0"/>
            <a:endCxn id="6" idx="2"/>
          </p:cNvCxnSpPr>
          <p:nvPr/>
        </p:nvCxnSpPr>
        <p:spPr>
          <a:xfrm flipV="1">
            <a:off x="7312855" y="1588478"/>
            <a:ext cx="2348" cy="351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232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317807"/>
              </p:ext>
            </p:extLst>
          </p:nvPr>
        </p:nvGraphicFramePr>
        <p:xfrm>
          <a:off x="211016" y="1240171"/>
          <a:ext cx="11774656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3664">
                  <a:extLst>
                    <a:ext uri="{9D8B030D-6E8A-4147-A177-3AD203B41FA5}">
                      <a16:colId xmlns:a16="http://schemas.microsoft.com/office/drawing/2014/main" val="3584081136"/>
                    </a:ext>
                  </a:extLst>
                </a:gridCol>
                <a:gridCol w="2943664">
                  <a:extLst>
                    <a:ext uri="{9D8B030D-6E8A-4147-A177-3AD203B41FA5}">
                      <a16:colId xmlns:a16="http://schemas.microsoft.com/office/drawing/2014/main" val="3199480204"/>
                    </a:ext>
                  </a:extLst>
                </a:gridCol>
                <a:gridCol w="2943664">
                  <a:extLst>
                    <a:ext uri="{9D8B030D-6E8A-4147-A177-3AD203B41FA5}">
                      <a16:colId xmlns:a16="http://schemas.microsoft.com/office/drawing/2014/main" val="2795918525"/>
                    </a:ext>
                  </a:extLst>
                </a:gridCol>
                <a:gridCol w="2943664">
                  <a:extLst>
                    <a:ext uri="{9D8B030D-6E8A-4147-A177-3AD203B41FA5}">
                      <a16:colId xmlns:a16="http://schemas.microsoft.com/office/drawing/2014/main" val="1064139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Stage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Function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Typical Latency (per frame)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Optimization Options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5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Frame Capture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Read frame from camera (RTSP/USB/IP)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10–40 </a:t>
                      </a:r>
                      <a:r>
                        <a:rPr lang="en-IN" dirty="0" err="1" smtClean="0"/>
                        <a:t>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 threaded capture (</a:t>
                      </a:r>
                      <a:r>
                        <a:rPr lang="en-US" dirty="0" err="1" smtClean="0"/>
                        <a:t>OpenCV</a:t>
                      </a:r>
                      <a:r>
                        <a:rPr lang="en-US" dirty="0" smtClean="0"/>
                        <a:t> + </a:t>
                      </a:r>
                      <a:r>
                        <a:rPr lang="en-US" dirty="0" err="1" smtClean="0"/>
                        <a:t>GStreamer</a:t>
                      </a:r>
                      <a:r>
                        <a:rPr lang="en-US" dirty="0" smtClean="0"/>
                        <a:t>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558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Preprocessing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Resize, </a:t>
                      </a:r>
                      <a:r>
                        <a:rPr lang="en-IN" dirty="0" err="1" smtClean="0"/>
                        <a:t>denoise</a:t>
                      </a:r>
                      <a:r>
                        <a:rPr lang="en-IN" dirty="0" smtClean="0"/>
                        <a:t>, stabilize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5–15 </a:t>
                      </a:r>
                      <a:r>
                        <a:rPr lang="en-IN" dirty="0" err="1" smtClean="0"/>
                        <a:t>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 </a:t>
                      </a:r>
                      <a:r>
                        <a:rPr lang="en-US" dirty="0" err="1" smtClean="0"/>
                        <a:t>OpenCV</a:t>
                      </a:r>
                      <a:r>
                        <a:rPr lang="en-US" dirty="0" smtClean="0"/>
                        <a:t> CUDA / GPU filters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332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Image Enhancement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Brightness &amp; Contrast Correction, Sharpness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10–15 </a:t>
                      </a:r>
                      <a:r>
                        <a:rPr lang="en-IN" dirty="0" err="1" smtClean="0"/>
                        <a:t>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CLAHE,</a:t>
                      </a:r>
                      <a:r>
                        <a:rPr lang="en-IN" baseline="0" dirty="0" smtClean="0"/>
                        <a:t> </a:t>
                      </a:r>
                      <a:r>
                        <a:rPr lang="en-IN" dirty="0" smtClean="0"/>
                        <a:t>Gaussian or bilateral filter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111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Anomaly Detection 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Deep learning inference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15–100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(depends on model size &amp; hardware)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Use </a:t>
                      </a:r>
                      <a:r>
                        <a:rPr lang="en-IN" dirty="0" err="1" smtClean="0"/>
                        <a:t>TensorRT</a:t>
                      </a:r>
                      <a:r>
                        <a:rPr lang="en-IN" dirty="0" smtClean="0"/>
                        <a:t> / ONNX / </a:t>
                      </a:r>
                      <a:r>
                        <a:rPr lang="en-IN" dirty="0" err="1" smtClean="0"/>
                        <a:t>TFLite</a:t>
                      </a:r>
                      <a:r>
                        <a:rPr lang="en-IN" dirty="0" smtClean="0"/>
                        <a:t> / quantization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728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Alert &amp; Visualization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Log, overlay, send alert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2–10 </a:t>
                      </a:r>
                      <a:r>
                        <a:rPr lang="en-IN" dirty="0" err="1" smtClean="0"/>
                        <a:t>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Async</a:t>
                      </a:r>
                      <a:r>
                        <a:rPr lang="en-IN" dirty="0" smtClean="0"/>
                        <a:t> I/O, MQTT/</a:t>
                      </a:r>
                      <a:r>
                        <a:rPr lang="en-IN" dirty="0" err="1" smtClean="0"/>
                        <a:t>WebSocket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267089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0"/>
            <a:ext cx="40427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dirty="0" smtClean="0"/>
              <a:t>Performance Factors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821694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989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dirty="0" smtClean="0"/>
              <a:t>Performance Pipeline</a:t>
            </a:r>
            <a:endParaRPr lang="en-IN" sz="3600" dirty="0"/>
          </a:p>
        </p:txBody>
      </p:sp>
      <p:graphicFrame>
        <p:nvGraphicFramePr>
          <p:cNvPr id="3" name="Table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203906995"/>
              </p:ext>
            </p:extLst>
          </p:nvPr>
        </p:nvGraphicFramePr>
        <p:xfrm>
          <a:off x="154745" y="1338644"/>
          <a:ext cx="118872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51654851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51963907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97174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Stage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Method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Latency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30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Frame Capture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OpenCV threaded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 </a:t>
                      </a:r>
                      <a:r>
                        <a:rPr lang="en-IN" dirty="0" err="1"/>
                        <a:t>ms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691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Preprocessing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OpenCV CUDA filters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 </a:t>
                      </a:r>
                      <a:r>
                        <a:rPr lang="en-IN" dirty="0" err="1"/>
                        <a:t>ms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4431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Image Enhancement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CLAHE + </a:t>
                      </a:r>
                      <a:r>
                        <a:rPr lang="en-IN" dirty="0" err="1" smtClean="0"/>
                        <a:t>Denoise</a:t>
                      </a:r>
                      <a:r>
                        <a:rPr lang="en-IN" dirty="0" smtClean="0"/>
                        <a:t> + Sharpen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12 </a:t>
                      </a:r>
                      <a:r>
                        <a:rPr lang="en-IN" dirty="0" err="1" smtClean="0"/>
                        <a:t>ms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5915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Anomaly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YOLOv8n (</a:t>
                      </a:r>
                      <a:r>
                        <a:rPr lang="en-IN" dirty="0" err="1"/>
                        <a:t>TensorRT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22 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7894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Small CNN (</a:t>
                      </a:r>
                      <a:r>
                        <a:rPr lang="en-IN" dirty="0" err="1"/>
                        <a:t>TFLite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12 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6196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Alert dispatch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Async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FastAPI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 </a:t>
                      </a:r>
                      <a:r>
                        <a:rPr lang="en-IN" dirty="0" err="1"/>
                        <a:t>ms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95817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IN" b="1" dirty="0"/>
                        <a:t>Total end-to-end latency</a:t>
                      </a:r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≈69 </a:t>
                      </a:r>
                      <a:r>
                        <a:rPr lang="en-US" b="1" dirty="0" err="1" smtClean="0"/>
                        <a:t>ms</a:t>
                      </a:r>
                      <a:r>
                        <a:rPr lang="en-US" dirty="0" smtClean="0"/>
                        <a:t> → </a:t>
                      </a:r>
                      <a:r>
                        <a:rPr lang="en-US" b="1" dirty="0" smtClean="0"/>
                        <a:t>~20.5 FPS real-time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670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7847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243</Words>
  <Application>Microsoft Office PowerPoint</Application>
  <PresentationFormat>Widescreen</PresentationFormat>
  <Paragraphs>69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37</cp:revision>
  <dcterms:created xsi:type="dcterms:W3CDTF">2025-11-08T04:51:43Z</dcterms:created>
  <dcterms:modified xsi:type="dcterms:W3CDTF">2025-11-08T16:19:51Z</dcterms:modified>
</cp:coreProperties>
</file>